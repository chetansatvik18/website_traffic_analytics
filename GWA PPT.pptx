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F627B-E777-4FE2-B39C-295F78E29DD7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9AFF7-7E19-49AB-98BF-2F1075DF7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732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F627B-E777-4FE2-B39C-295F78E29DD7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9AFF7-7E19-49AB-98BF-2F1075DF7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040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F627B-E777-4FE2-B39C-295F78E29DD7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9AFF7-7E19-49AB-98BF-2F1075DF7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573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F627B-E777-4FE2-B39C-295F78E29DD7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9AFF7-7E19-49AB-98BF-2F1075DF7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2261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F627B-E777-4FE2-B39C-295F78E29DD7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9AFF7-7E19-49AB-98BF-2F1075DF7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132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F627B-E777-4FE2-B39C-295F78E29DD7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9AFF7-7E19-49AB-98BF-2F1075DF7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5418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F627B-E777-4FE2-B39C-295F78E29DD7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9AFF7-7E19-49AB-98BF-2F1075DF7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3438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F627B-E777-4FE2-B39C-295F78E29DD7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9AFF7-7E19-49AB-98BF-2F1075DF7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0208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44CF627B-E777-4FE2-B39C-295F78E29DD7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8249AFF7-7E19-49AB-98BF-2F1075DF7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94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F627B-E777-4FE2-B39C-295F78E29DD7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9AFF7-7E19-49AB-98BF-2F1075DF7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868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F627B-E777-4FE2-B39C-295F78E29DD7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9AFF7-7E19-49AB-98BF-2F1075DF7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9920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F627B-E777-4FE2-B39C-295F78E29DD7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9AFF7-7E19-49AB-98BF-2F1075DF7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668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F627B-E777-4FE2-B39C-295F78E29DD7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9AFF7-7E19-49AB-98BF-2F1075DF7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117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F627B-E777-4FE2-B39C-295F78E29DD7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9AFF7-7E19-49AB-98BF-2F1075DF7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03838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F627B-E777-4FE2-B39C-295F78E29DD7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9AFF7-7E19-49AB-98BF-2F1075DF7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2431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F627B-E777-4FE2-B39C-295F78E29DD7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9AFF7-7E19-49AB-98BF-2F1075DF7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0408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F627B-E777-4FE2-B39C-295F78E29DD7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9AFF7-7E19-49AB-98BF-2F1075DF7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886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44CF627B-E777-4FE2-B39C-295F78E29DD7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8249AFF7-7E19-49AB-98BF-2F1075DF7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46432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A368B-D419-CF07-F71C-BCCFDE7175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7889" y="1066799"/>
            <a:ext cx="8676222" cy="2496313"/>
          </a:xfrm>
        </p:spPr>
        <p:txBody>
          <a:bodyPr/>
          <a:lstStyle/>
          <a:p>
            <a:r>
              <a:rPr lang="en-IN" dirty="0"/>
              <a:t>Website Navigation and Traffic Pattern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0E9AAF-AD1D-9946-61B1-033BBCB86F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dirty="0"/>
              <a:t>T. Chetan Satvik – 2320090026</a:t>
            </a:r>
          </a:p>
          <a:p>
            <a:pPr algn="r"/>
            <a:r>
              <a:rPr lang="en-US" dirty="0"/>
              <a:t>K. Nikhil – 2320090025</a:t>
            </a:r>
          </a:p>
          <a:p>
            <a:pPr algn="r"/>
            <a:r>
              <a:rPr lang="en-US" dirty="0"/>
              <a:t>Ch. Nikith – 2320090023</a:t>
            </a:r>
          </a:p>
          <a:p>
            <a:pPr algn="r"/>
            <a:r>
              <a:rPr lang="en-US" dirty="0"/>
              <a:t>K. Vihaari - 2320090027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46BB76-39BD-8909-6CC8-49C8815A980C}"/>
              </a:ext>
            </a:extLst>
          </p:cNvPr>
          <p:cNvSpPr txBox="1"/>
          <p:nvPr/>
        </p:nvSpPr>
        <p:spPr>
          <a:xfrm>
            <a:off x="742950" y="142467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SUBJECT: GRAPH AND WEB ANALYTICS</a:t>
            </a:r>
          </a:p>
        </p:txBody>
      </p:sp>
    </p:spTree>
    <p:extLst>
      <p:ext uri="{BB962C8B-B14F-4D97-AF65-F5344CB8AC3E}">
        <p14:creationId xmlns:p14="http://schemas.microsoft.com/office/powerpoint/2010/main" val="439746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A469C-33FF-A5A9-E38C-CF312CF4C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DDF3C-3F27-EBAB-48D3-3F05C3869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67257"/>
            <a:ext cx="9905998" cy="44683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What is Website Navigation?</a:t>
            </a:r>
          </a:p>
          <a:p>
            <a:pPr lvl="0"/>
            <a:r>
              <a:rPr lang="en-IN" dirty="0"/>
              <a:t>The way users move between pages of a website. </a:t>
            </a:r>
          </a:p>
          <a:p>
            <a:pPr lvl="0"/>
            <a:r>
              <a:rPr lang="en-IN" dirty="0"/>
              <a:t>Helps users find information easily. </a:t>
            </a:r>
          </a:p>
          <a:p>
            <a:pPr lvl="0"/>
            <a:r>
              <a:rPr lang="en-IN" dirty="0"/>
              <a:t>Includes menus, links, buttons, search and breadcrumbs. </a:t>
            </a:r>
          </a:p>
          <a:p>
            <a:pPr marL="0" indent="0">
              <a:buNone/>
            </a:pPr>
            <a:r>
              <a:rPr lang="en-IN" b="1" dirty="0"/>
              <a:t>What is Traffic Pattern Analytics?</a:t>
            </a:r>
          </a:p>
          <a:p>
            <a:pPr lvl="0"/>
            <a:r>
              <a:rPr lang="en-IN" dirty="0"/>
              <a:t>Analysis of how visitors arrive and behave on a website. </a:t>
            </a:r>
          </a:p>
          <a:p>
            <a:pPr lvl="0"/>
            <a:r>
              <a:rPr lang="en-IN" dirty="0"/>
              <a:t>Helps identify popular pages and user journeys. </a:t>
            </a:r>
          </a:p>
          <a:p>
            <a:pPr lvl="0"/>
            <a:r>
              <a:rPr lang="en-IN" dirty="0"/>
              <a:t>Supports data-driven website improvements.</a:t>
            </a:r>
          </a:p>
        </p:txBody>
      </p:sp>
    </p:spTree>
    <p:extLst>
      <p:ext uri="{BB962C8B-B14F-4D97-AF65-F5344CB8AC3E}">
        <p14:creationId xmlns:p14="http://schemas.microsoft.com/office/powerpoint/2010/main" val="2526929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35EDF-28E0-1DDD-35E0-FD4825981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093" y="509016"/>
            <a:ext cx="9905998" cy="1905000"/>
          </a:xfrm>
        </p:spPr>
        <p:txBody>
          <a:bodyPr/>
          <a:lstStyle/>
          <a:p>
            <a:r>
              <a:rPr lang="en-US" dirty="0"/>
              <a:t>Website navigation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883B5-0AC4-BAD3-2298-A61536470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797" y="1848612"/>
            <a:ext cx="9905998" cy="41361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Common Navigation Elements</a:t>
            </a:r>
            <a:endParaRPr lang="en-IN" dirty="0"/>
          </a:p>
          <a:p>
            <a:pPr lvl="0"/>
            <a:r>
              <a:rPr lang="en-IN" dirty="0"/>
              <a:t>Navigation menu </a:t>
            </a:r>
          </a:p>
          <a:p>
            <a:pPr lvl="0"/>
            <a:r>
              <a:rPr lang="en-IN" dirty="0"/>
              <a:t>Search bar </a:t>
            </a:r>
          </a:p>
          <a:p>
            <a:pPr lvl="0"/>
            <a:r>
              <a:rPr lang="en-IN" dirty="0"/>
              <a:t>Hyperlinks </a:t>
            </a:r>
          </a:p>
          <a:p>
            <a:pPr lvl="0"/>
            <a:r>
              <a:rPr lang="en-IN" dirty="0"/>
              <a:t>Buttons </a:t>
            </a:r>
          </a:p>
          <a:p>
            <a:pPr lvl="0"/>
            <a:r>
              <a:rPr lang="en-IN" dirty="0"/>
              <a:t>Breadcrumbs </a:t>
            </a:r>
          </a:p>
          <a:p>
            <a:pPr lvl="0"/>
            <a:r>
              <a:rPr lang="en-IN" dirty="0"/>
              <a:t>Footer links </a:t>
            </a:r>
          </a:p>
          <a:p>
            <a:pPr lvl="0"/>
            <a:r>
              <a:rPr lang="en-IN" dirty="0"/>
              <a:t>Call-to-action buttons</a:t>
            </a:r>
          </a:p>
        </p:txBody>
      </p:sp>
      <p:pic>
        <p:nvPicPr>
          <p:cNvPr id="6" name="Picture 5" descr="ade952c8-ccc0-409a-a6db-436b9e22fcc9.png">
            <a:extLst>
              <a:ext uri="{FF2B5EF4-FFF2-40B4-BE49-F238E27FC236}">
                <a16:creationId xmlns:a16="http://schemas.microsoft.com/office/drawing/2014/main" id="{8FF4F657-FEAC-AB72-E3DB-C3E5A5369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84" y="2133599"/>
            <a:ext cx="6400800" cy="356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302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F2ADE-AF65-FE68-3DB4-3D50CC27A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Website Navigation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392F3-4BC2-C2DC-B94B-397B4B3ED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02536"/>
            <a:ext cx="9905998" cy="44439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Hierarchical Navigation</a:t>
            </a:r>
            <a:endParaRPr lang="en-IN" dirty="0"/>
          </a:p>
          <a:p>
            <a:pPr lvl="0"/>
            <a:r>
              <a:rPr lang="en-IN" dirty="0"/>
              <a:t>Users move from general pages to specific pages. </a:t>
            </a:r>
          </a:p>
          <a:p>
            <a:pPr lvl="0"/>
            <a:r>
              <a:rPr lang="en-IN" dirty="0"/>
              <a:t>Example: Home → Products → Product → Details </a:t>
            </a:r>
          </a:p>
          <a:p>
            <a:pPr marL="0" lvl="0" indent="0">
              <a:buNone/>
            </a:pPr>
            <a:r>
              <a:rPr lang="en-IN" b="1" dirty="0"/>
              <a:t>Global Navigation</a:t>
            </a:r>
            <a:endParaRPr lang="en-IN" dirty="0"/>
          </a:p>
          <a:p>
            <a:pPr lvl="0"/>
            <a:r>
              <a:rPr lang="en-IN" dirty="0"/>
              <a:t>Main menu available across multiple pages. </a:t>
            </a:r>
          </a:p>
          <a:p>
            <a:pPr marL="0" indent="0">
              <a:buNone/>
            </a:pPr>
            <a:r>
              <a:rPr lang="en-IN" b="1" dirty="0"/>
              <a:t>Local Navigation</a:t>
            </a:r>
            <a:endParaRPr lang="en-IN" dirty="0"/>
          </a:p>
          <a:p>
            <a:pPr lvl="0"/>
            <a:r>
              <a:rPr lang="en-IN" dirty="0"/>
              <a:t>Links related to the current section. </a:t>
            </a:r>
          </a:p>
          <a:p>
            <a:pPr marL="0" indent="0">
              <a:buNone/>
            </a:pPr>
            <a:r>
              <a:rPr lang="en-IN" b="1" dirty="0"/>
              <a:t>Breadcrumb Navigation</a:t>
            </a:r>
            <a:endParaRPr lang="en-IN" dirty="0"/>
          </a:p>
          <a:p>
            <a:pPr lvl="0"/>
            <a:r>
              <a:rPr lang="en-IN" dirty="0"/>
              <a:t>Shows the user's current location.</a:t>
            </a:r>
          </a:p>
        </p:txBody>
      </p:sp>
    </p:spTree>
    <p:extLst>
      <p:ext uri="{BB962C8B-B14F-4D97-AF65-F5344CB8AC3E}">
        <p14:creationId xmlns:p14="http://schemas.microsoft.com/office/powerpoint/2010/main" val="4128369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B33C-299F-9C52-892B-8E4356A5B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426720"/>
            <a:ext cx="9905998" cy="1905000"/>
          </a:xfrm>
        </p:spPr>
        <p:txBody>
          <a:bodyPr/>
          <a:lstStyle/>
          <a:p>
            <a:r>
              <a:rPr lang="en-US" dirty="0"/>
              <a:t>What is traffic Pattern Analytics?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51A40-A4AB-91A9-F5AC-9BB6B1037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3669" y="1746504"/>
            <a:ext cx="9905998" cy="45262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Traffic Pattern Analytics = Studying visitor behaviour on a website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It analyses:</a:t>
            </a:r>
          </a:p>
          <a:p>
            <a:pPr lvl="0"/>
            <a:r>
              <a:rPr lang="en-IN" dirty="0"/>
              <a:t>Number of visitors </a:t>
            </a:r>
          </a:p>
          <a:p>
            <a:pPr lvl="0"/>
            <a:r>
              <a:rPr lang="en-IN" dirty="0"/>
              <a:t>Number of sessions </a:t>
            </a:r>
          </a:p>
          <a:p>
            <a:pPr lvl="0"/>
            <a:r>
              <a:rPr lang="en-IN" dirty="0"/>
              <a:t>Pages visited </a:t>
            </a:r>
          </a:p>
          <a:p>
            <a:pPr lvl="0"/>
            <a:r>
              <a:rPr lang="en-IN" dirty="0"/>
              <a:t>Traffic sources </a:t>
            </a:r>
          </a:p>
          <a:p>
            <a:pPr lvl="0"/>
            <a:r>
              <a:rPr lang="en-IN" dirty="0"/>
              <a:t>Time spent </a:t>
            </a:r>
          </a:p>
          <a:p>
            <a:pPr lvl="0"/>
            <a:r>
              <a:rPr lang="en-IN" dirty="0"/>
              <a:t>Entry and Exit pages </a:t>
            </a:r>
          </a:p>
          <a:p>
            <a:pPr lvl="0"/>
            <a:r>
              <a:rPr lang="en-IN" dirty="0"/>
              <a:t>User journey</a:t>
            </a:r>
          </a:p>
        </p:txBody>
      </p:sp>
      <p:pic>
        <p:nvPicPr>
          <p:cNvPr id="6" name="Picture 5" descr="91ef8527-6431-4367-b94a-315d2fbd95f8.png">
            <a:extLst>
              <a:ext uri="{FF2B5EF4-FFF2-40B4-BE49-F238E27FC236}">
                <a16:creationId xmlns:a16="http://schemas.microsoft.com/office/drawing/2014/main" id="{3E44A0B2-6757-1F8F-584E-48D412D56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661" y="2482595"/>
            <a:ext cx="6175109" cy="363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895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C712A-ECDD-8C58-1285-EAF86BBFB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traffic metrics</a:t>
            </a:r>
            <a:endParaRPr lang="en-IN" dirty="0"/>
          </a:p>
        </p:txBody>
      </p:sp>
      <p:graphicFrame>
        <p:nvGraphicFramePr>
          <p:cNvPr id="13" name="Content Placeholder 6">
            <a:extLst>
              <a:ext uri="{FF2B5EF4-FFF2-40B4-BE49-F238E27FC236}">
                <a16:creationId xmlns:a16="http://schemas.microsoft.com/office/drawing/2014/main" id="{FFD6D795-7160-A9AE-4800-0AAE71AE93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1681753"/>
              </p:ext>
            </p:extLst>
          </p:nvPr>
        </p:nvGraphicFramePr>
        <p:xfrm>
          <a:off x="530352" y="2066543"/>
          <a:ext cx="6117336" cy="424281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58668">
                  <a:extLst>
                    <a:ext uri="{9D8B030D-6E8A-4147-A177-3AD203B41FA5}">
                      <a16:colId xmlns:a16="http://schemas.microsoft.com/office/drawing/2014/main" val="3200142860"/>
                    </a:ext>
                  </a:extLst>
                </a:gridCol>
                <a:gridCol w="3058668">
                  <a:extLst>
                    <a:ext uri="{9D8B030D-6E8A-4147-A177-3AD203B41FA5}">
                      <a16:colId xmlns:a16="http://schemas.microsoft.com/office/drawing/2014/main" val="3610584624"/>
                    </a:ext>
                  </a:extLst>
                </a:gridCol>
              </a:tblGrid>
              <a:tr h="537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013329"/>
                  </a:ext>
                </a:extLst>
              </a:tr>
              <a:tr h="537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Individual visitors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4211172"/>
                  </a:ext>
                </a:extLst>
              </a:tr>
              <a:tr h="537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Sessions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Visits to the website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8757485"/>
                  </a:ext>
                </a:extLst>
              </a:tr>
              <a:tr h="657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Page Views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Number of pages viewed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3071093"/>
                  </a:ext>
                </a:extLst>
              </a:tr>
              <a:tr h="657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Engagement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Time users actively engage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0712487"/>
                  </a:ext>
                </a:extLst>
              </a:tr>
              <a:tr h="657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Bounce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Sessions with little or no further interaction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0830232"/>
                  </a:ext>
                </a:extLst>
              </a:tr>
              <a:tr h="657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Exit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Percentage of sessions ending on a page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8100073"/>
                  </a:ext>
                </a:extLst>
              </a:tr>
            </a:tbl>
          </a:graphicData>
        </a:graphic>
      </p:graphicFrame>
      <p:pic>
        <p:nvPicPr>
          <p:cNvPr id="4" name="Picture 3" descr="711b062a-0c0e-4f30-b675-30907ed6113b.png">
            <a:extLst>
              <a:ext uri="{FF2B5EF4-FFF2-40B4-BE49-F238E27FC236}">
                <a16:creationId xmlns:a16="http://schemas.microsoft.com/office/drawing/2014/main" id="{FB581CC0-C2E5-39CF-3834-7727FF182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5328" y="2039111"/>
            <a:ext cx="5303520" cy="429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797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130B6-1646-F641-38C4-E02F6AE1D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Sources of Website Traffic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7B3D43-90FE-A66E-AEBC-2CC20C065F4B}"/>
              </a:ext>
            </a:extLst>
          </p:cNvPr>
          <p:cNvSpPr txBox="1"/>
          <p:nvPr/>
        </p:nvSpPr>
        <p:spPr>
          <a:xfrm>
            <a:off x="940243" y="2154936"/>
            <a:ext cx="5231957" cy="2803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dirty="0"/>
              <a:t>Where do visitors come from?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Organic Search — Search engines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Referral — Other websites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Social — Social media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Direct — Directly entering the website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Paid Search — Online advertisements </a:t>
            </a:r>
          </a:p>
        </p:txBody>
      </p:sp>
      <p:pic>
        <p:nvPicPr>
          <p:cNvPr id="6" name="Picture 5" descr="d0a87613-82bd-41bf-b956-adef268cd779.png">
            <a:extLst>
              <a:ext uri="{FF2B5EF4-FFF2-40B4-BE49-F238E27FC236}">
                <a16:creationId xmlns:a16="http://schemas.microsoft.com/office/drawing/2014/main" id="{59E1F787-CBC9-D92B-2A34-005013D4E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2674" y="1903995"/>
            <a:ext cx="5231958" cy="3511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805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EA3C4-DBC8-E87C-D41A-00A185176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Landing page and exit page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29677-CB32-FBCB-8E98-06EECEC4D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508" y="1920239"/>
            <a:ext cx="9905998" cy="76200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Landing pages show where sessions begin; exit pages show where sessions end</a:t>
            </a:r>
            <a:endParaRPr lang="en-IN" dirty="0"/>
          </a:p>
        </p:txBody>
      </p:sp>
      <p:pic>
        <p:nvPicPr>
          <p:cNvPr id="5" name="Picture 4" descr="04b1d8a2-e5a5-4d8f-8dca-7ab5ce245f7a.png">
            <a:extLst>
              <a:ext uri="{FF2B5EF4-FFF2-40B4-BE49-F238E27FC236}">
                <a16:creationId xmlns:a16="http://schemas.microsoft.com/office/drawing/2014/main" id="{7C5DF1A0-5A73-5613-97D6-63BCE4750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16" y="2682240"/>
            <a:ext cx="5212080" cy="3566160"/>
          </a:xfrm>
          <a:prstGeom prst="rect">
            <a:avLst/>
          </a:prstGeom>
        </p:spPr>
      </p:pic>
      <p:pic>
        <p:nvPicPr>
          <p:cNvPr id="7" name="Picture 6" descr="a9c2714e-4511-4b5d-8a23-d22567c86391.png">
            <a:extLst>
              <a:ext uri="{FF2B5EF4-FFF2-40B4-BE49-F238E27FC236}">
                <a16:creationId xmlns:a16="http://schemas.microsoft.com/office/drawing/2014/main" id="{8491C8A5-FDDE-CF46-D56B-C299683D1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12" y="2682240"/>
            <a:ext cx="5212080" cy="356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658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C75D1-ADE6-7F7E-30A9-65C190621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Conversion rate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DB93F-33EC-7219-3A9D-296041CC0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075689"/>
            <a:ext cx="10453179" cy="115214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Conversion rate shows the percentage of sessions that result in the desired action.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 descr="2e6b39d5-d16e-4a54-b3d8-67101100edfe.png">
            <a:extLst>
              <a:ext uri="{FF2B5EF4-FFF2-40B4-BE49-F238E27FC236}">
                <a16:creationId xmlns:a16="http://schemas.microsoft.com/office/drawing/2014/main" id="{8E63AC8F-BC4B-0A37-96A6-63721A5AF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32" y="2659381"/>
            <a:ext cx="5212080" cy="3860291"/>
          </a:xfrm>
          <a:prstGeom prst="rect">
            <a:avLst/>
          </a:prstGeom>
        </p:spPr>
      </p:pic>
      <p:pic>
        <p:nvPicPr>
          <p:cNvPr id="7" name="Picture 6" descr="810f1af9-124c-49f3-bc53-ed580d28fcf2.png">
            <a:extLst>
              <a:ext uri="{FF2B5EF4-FFF2-40B4-BE49-F238E27FC236}">
                <a16:creationId xmlns:a16="http://schemas.microsoft.com/office/drawing/2014/main" id="{D8A5DEED-CA52-616A-114A-7A1BC54DB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2578608"/>
            <a:ext cx="5212080" cy="386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14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CCA23-CF1E-5C41-C4AE-51FF84112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and benefits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54F6F-688F-C94B-7010-22E08E521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911096"/>
            <a:ext cx="9905998" cy="4498847"/>
          </a:xfrm>
        </p:spPr>
        <p:txBody>
          <a:bodyPr>
            <a:normAutofit/>
          </a:bodyPr>
          <a:lstStyle/>
          <a:p>
            <a:pPr lvl="0"/>
            <a:r>
              <a:rPr lang="en-IN" sz="2400" dirty="0"/>
              <a:t>Improve website navigation </a:t>
            </a:r>
          </a:p>
          <a:p>
            <a:pPr lvl="0"/>
            <a:r>
              <a:rPr lang="en-IN" sz="2400" dirty="0"/>
              <a:t>Identify popular content </a:t>
            </a:r>
          </a:p>
          <a:p>
            <a:pPr lvl="0"/>
            <a:r>
              <a:rPr lang="en-IN" sz="2400" dirty="0"/>
              <a:t>Find user drop-off points </a:t>
            </a:r>
          </a:p>
          <a:p>
            <a:pPr lvl="0"/>
            <a:r>
              <a:rPr lang="en-IN" sz="2400" dirty="0"/>
              <a:t>Improve user experience </a:t>
            </a:r>
          </a:p>
          <a:p>
            <a:pPr lvl="0"/>
            <a:r>
              <a:rPr lang="en-IN" sz="2400" dirty="0"/>
              <a:t>Optimize marketing campaigns </a:t>
            </a:r>
          </a:p>
          <a:p>
            <a:pPr lvl="0"/>
            <a:r>
              <a:rPr lang="en-IN" sz="2400" dirty="0"/>
              <a:t>Increase conversions </a:t>
            </a:r>
          </a:p>
          <a:p>
            <a:pPr lvl="0"/>
            <a:r>
              <a:rPr lang="en-IN" sz="2400" dirty="0"/>
              <a:t>Understand customer behaviour </a:t>
            </a:r>
          </a:p>
          <a:p>
            <a:pPr lvl="0"/>
            <a:r>
              <a:rPr lang="en-IN" sz="2400" dirty="0"/>
              <a:t>Support data-driven decisions</a:t>
            </a:r>
          </a:p>
        </p:txBody>
      </p:sp>
    </p:spTree>
    <p:extLst>
      <p:ext uri="{BB962C8B-B14F-4D97-AF65-F5344CB8AC3E}">
        <p14:creationId xmlns:p14="http://schemas.microsoft.com/office/powerpoint/2010/main" val="1082357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3B031-D871-3391-923D-EA471B9E2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805" y="545592"/>
            <a:ext cx="9905998" cy="1905000"/>
          </a:xfrm>
        </p:spPr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F4021-A6C2-0201-C074-5F6946973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233" y="2011680"/>
            <a:ext cx="11119104" cy="4236720"/>
          </a:xfrm>
        </p:spPr>
        <p:txBody>
          <a:bodyPr>
            <a:normAutofit/>
          </a:bodyPr>
          <a:lstStyle/>
          <a:p>
            <a:pPr marL="0" indent="0">
              <a:spcAft>
                <a:spcPts val="700"/>
              </a:spcAft>
              <a:buNone/>
              <a:defRPr sz="1800">
                <a:solidFill>
                  <a:srgbClr val="CDCDCD"/>
                </a:solidFill>
                <a:latin typeface="Arial"/>
              </a:defRPr>
            </a:pPr>
            <a:r>
              <a:rPr lang="en-US" sz="2400" dirty="0"/>
              <a:t>• Website navigation helps users move through a website easily.</a:t>
            </a:r>
          </a:p>
          <a:p>
            <a:pPr marL="0" indent="0">
              <a:spcAft>
                <a:spcPts val="700"/>
              </a:spcAft>
              <a:buNone/>
              <a:defRPr sz="1800">
                <a:solidFill>
                  <a:srgbClr val="CDCDCD"/>
                </a:solidFill>
                <a:latin typeface="Arial"/>
              </a:defRPr>
            </a:pPr>
            <a:r>
              <a:rPr lang="en-US" sz="2400" dirty="0"/>
              <a:t>• Traffic analytics helps understand how visitors interact with different pages.</a:t>
            </a:r>
          </a:p>
          <a:p>
            <a:pPr marL="0" indent="0">
              <a:spcAft>
                <a:spcPts val="700"/>
              </a:spcAft>
              <a:buNone/>
              <a:defRPr sz="1800">
                <a:solidFill>
                  <a:srgbClr val="CDCDCD"/>
                </a:solidFill>
                <a:latin typeface="Arial"/>
              </a:defRPr>
            </a:pPr>
            <a:r>
              <a:rPr lang="en-US" sz="2400" dirty="0"/>
              <a:t>• Traffic patterns can be studied using sessions, bounce rate, landing pages, exit pages and conversion rate.</a:t>
            </a:r>
          </a:p>
          <a:p>
            <a:pPr marL="0" indent="0">
              <a:spcAft>
                <a:spcPts val="700"/>
              </a:spcAft>
              <a:buNone/>
              <a:defRPr sz="1800">
                <a:solidFill>
                  <a:srgbClr val="CDCDCD"/>
                </a:solidFill>
                <a:latin typeface="Arial"/>
              </a:defRPr>
            </a:pPr>
            <a:r>
              <a:rPr lang="en-US" sz="2400" dirty="0"/>
              <a:t>• Graphs make website data easier to compare and understand.</a:t>
            </a:r>
          </a:p>
          <a:p>
            <a:pPr marL="0" indent="0">
              <a:spcAft>
                <a:spcPts val="700"/>
              </a:spcAft>
              <a:buNone/>
              <a:defRPr sz="1800">
                <a:solidFill>
                  <a:srgbClr val="CDCDCD"/>
                </a:solidFill>
                <a:latin typeface="Arial"/>
              </a:defRPr>
            </a:pPr>
            <a:r>
              <a:rPr lang="en-US" sz="2400" dirty="0"/>
              <a:t>• These insights can be used to improve website design, user experience and overall performance.</a:t>
            </a:r>
          </a:p>
        </p:txBody>
      </p:sp>
    </p:spTree>
    <p:extLst>
      <p:ext uri="{BB962C8B-B14F-4D97-AF65-F5344CB8AC3E}">
        <p14:creationId xmlns:p14="http://schemas.microsoft.com/office/powerpoint/2010/main" val="5490507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58</TotalTime>
  <Words>412</Words>
  <Application>Microsoft Office PowerPoint</Application>
  <PresentationFormat>Widescreen</PresentationFormat>
  <Paragraphs>85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Century Gothic</vt:lpstr>
      <vt:lpstr>Mesh</vt:lpstr>
      <vt:lpstr>Website Navigation and Traffic Pattern Analytics</vt:lpstr>
      <vt:lpstr>Introduction</vt:lpstr>
      <vt:lpstr>Website navigation</vt:lpstr>
      <vt:lpstr>Types of Website Navigation</vt:lpstr>
      <vt:lpstr>What is traffic Pattern Analytics?</vt:lpstr>
      <vt:lpstr>Important traffic metrics</vt:lpstr>
      <vt:lpstr>Sources of Website Traffic</vt:lpstr>
      <vt:lpstr>Landing page and exit page analysis</vt:lpstr>
      <vt:lpstr>Conversion rate analysis</vt:lpstr>
      <vt:lpstr>Application and benefits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Vihaari Koduru</dc:creator>
  <cp:lastModifiedBy>Vihaari Koduru</cp:lastModifiedBy>
  <cp:revision>6</cp:revision>
  <dcterms:created xsi:type="dcterms:W3CDTF">2026-09-24T05:19:42Z</dcterms:created>
  <dcterms:modified xsi:type="dcterms:W3CDTF">2026-09-26T05:57:01Z</dcterms:modified>
</cp:coreProperties>
</file>